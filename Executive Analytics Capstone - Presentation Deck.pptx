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3C5FD"/>
                </a:solidFill>
              </a:defRPr>
            </a:pPr>
            <a:r>
              <a:t>EXECUTIVE ANALYTICS CAPSTONE</a:t>
            </a:r>
          </a:p>
          <a:p>
            <a:pPr>
              <a:spcBef>
                <a:spcPts val="1400"/>
              </a:spcBef>
              <a:defRPr sz="3200" b="1">
                <a:solidFill>
                  <a:srgbClr val="FFFFFF"/>
                </a:solidFill>
              </a:defRPr>
            </a:pPr>
            <a:r>
              <a:t>Customer Churn Diagnostics, Explainable Risk Architecture &amp; Revenue Retention Strategy</a:t>
            </a:r>
          </a:p>
          <a:p>
            <a:pPr>
              <a:spcBef>
                <a:spcPts val="1200"/>
              </a:spcBef>
              <a:defRPr sz="1600">
                <a:solidFill>
                  <a:srgbClr val="E2E8F0"/>
                </a:solidFill>
              </a:defRPr>
            </a:pPr>
            <a:r>
              <a:t>Translating Empirical Friction Telemetry into Proactive Retention Playbooks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02920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Prepared for: Executive Leadership | Author: Lead Revenue &amp; Data Analytics Team | Date: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766E"/>
                </a:solidFill>
              </a:defRPr>
            </a:pPr>
            <a:r>
              <a:t>EXECUTIVE CONTEXT &amp; PROBLEM FRAMING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Executive Context: Halting $4,919 in Annualized Churn Leakage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E3A8A"/>
                </a:solidFill>
              </a:defRPr>
            </a:pPr>
            <a:r>
              <a:t>$31,327</a:t>
            </a:r>
          </a:p>
          <a:p>
            <a:pPr>
              <a:spcBef>
                <a:spcPts val="800"/>
              </a:spcBef>
              <a:defRPr sz="1300" b="1">
                <a:solidFill>
                  <a:srgbClr val="1E293B"/>
                </a:solidFill>
              </a:defRPr>
            </a:pPr>
            <a:r>
              <a:t>Cumulative Historical Revenue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Across 15 customer accounts audited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73736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DC2626"/>
                </a:solidFill>
              </a:defRPr>
            </a:pPr>
            <a:r>
              <a:t>$4,919 / yr</a:t>
            </a:r>
          </a:p>
          <a:p>
            <a:pPr>
              <a:spcBef>
                <a:spcPts val="800"/>
              </a:spcBef>
              <a:defRPr sz="1300" b="1">
                <a:solidFill>
                  <a:srgbClr val="1E293B"/>
                </a:solidFill>
              </a:defRPr>
            </a:pPr>
            <a:r>
              <a:t>Annualized Churn Leakage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32.3% of total revenue capacity lost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73736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6A34A"/>
                </a:solidFill>
              </a:defRPr>
            </a:pPr>
            <a:r>
              <a:t>100%</a:t>
            </a:r>
          </a:p>
          <a:p>
            <a:pPr>
              <a:spcBef>
                <a:spcPts val="800"/>
              </a:spcBef>
              <a:defRPr sz="1300" b="1">
                <a:solidFill>
                  <a:srgbClr val="1E293B"/>
                </a:solidFill>
              </a:defRPr>
            </a:pPr>
            <a:r>
              <a:t>Separation in Risk Model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All churners identified before contract exit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1069848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23360"/>
            <a:ext cx="10332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Strategic Executive Mandate: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Reactive Retention Failure: Frontline teams currently rely on lagging indicators (cancellation requests, contract expiry notices), providing zero opportunity for proactive rescue.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Root Structural Vulnerability: Historical churn is not random. It is concentrated in Month-to-Month contracts experiencing acute support friction in early onboarding.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Explainable Triage Solution: Deploying a deterministic 0–100 point scoring engine that provides CSMs with a transparent 34-point early-warning intervention buffer.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766E"/>
                </a:solidFill>
              </a:defRPr>
            </a:pPr>
            <a:r>
              <a:t>MATERIAL INSIGHT 1 /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Insight 1: Contract Commitment Architecture is a Binary Churn Driver</a:t>
            </a:r>
          </a:p>
        </p:txBody>
      </p:sp>
      <p:pic>
        <p:nvPicPr>
          <p:cNvPr id="4" name="Picture 3" descr="chart_contract_chu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120640" cy="163726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126480" y="1645920"/>
            <a:ext cx="530352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t>Key Empirical Takeaway:</a:t>
            </a:r>
          </a:p>
          <a:p>
            <a:pPr>
              <a:spcBef>
                <a:spcPts val="800"/>
              </a:spcBef>
              <a:defRPr sz="1100" b="1">
                <a:solidFill>
                  <a:srgbClr val="1E293B"/>
                </a:solidFill>
              </a:defRPr>
            </a:pPr>
            <a:r>
              <a:t>100% Churn Concentration: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Every single churned customer (7 of 7) was on a Month-to-Month agreement. Zero churn occurred on One-Year (4) or Two-Year (4) contracts.</a:t>
            </a:r>
          </a:p>
          <a:p>
            <a:pPr>
              <a:spcBef>
                <a:spcPts val="800"/>
              </a:spcBef>
              <a:defRPr sz="1100" b="1">
                <a:solidFill>
                  <a:srgbClr val="1E293B"/>
                </a:solidFill>
              </a:defRPr>
            </a:pPr>
            <a:r>
              <a:t>Switching Barrier Mechanism: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Month-to-Month contracts carry zero structural friction. At the first sign of onboarding difficulty, accounts walk away at the next billing cycle.</a:t>
            </a:r>
          </a:p>
          <a:p>
            <a:pPr>
              <a:spcBef>
                <a:spcPts val="800"/>
              </a:spcBef>
              <a:defRPr sz="1100" b="1">
                <a:solidFill>
                  <a:srgbClr val="1E293B"/>
                </a:solidFill>
              </a:defRPr>
            </a:pPr>
            <a:r>
              <a:t>Contracted Adoption Runway: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Annual and multi-year agreements provide Customer Success teams with a formal, contracted runway to resolve technical blockers and prove business value.</a:t>
            </a:r>
          </a:p>
          <a:p>
            <a:pPr>
              <a:spcBef>
                <a:spcPts val="800"/>
              </a:spcBef>
              <a:defRPr sz="1100" b="1">
                <a:solidFill>
                  <a:srgbClr val="1E293B"/>
                </a:solidFill>
              </a:defRPr>
            </a:pPr>
            <a:r>
              <a:t>Material Executive Decision: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Discontinue standalone Month-to-Month contracts for mid-market Pro and Enterprise accounts. Require quarterly or annual minimums with onboarding value guarantees.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766E"/>
                </a:solidFill>
              </a:defRPr>
            </a:pPr>
            <a:r>
              <a:t>MATERIAL INSIGHT 2 /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Insight 2: Support Ticket Velocity is an Acute Leading Friction Indicator</a:t>
            </a:r>
          </a:p>
        </p:txBody>
      </p:sp>
      <p:pic>
        <p:nvPicPr>
          <p:cNvPr id="4" name="Picture 3" descr="chart_support_velo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120640" cy="182399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126480" y="1645920"/>
            <a:ext cx="530352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t>Key Empirical Takeaway:</a:t>
            </a:r>
          </a:p>
          <a:p>
            <a:pPr>
              <a:spcBef>
                <a:spcPts val="800"/>
              </a:spcBef>
              <a:defRPr sz="1100" b="1">
                <a:solidFill>
                  <a:srgbClr val="1E293B"/>
                </a:solidFill>
              </a:defRPr>
            </a:pPr>
            <a:r>
              <a:t>Volume &amp; Velocity Divergence: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Retained accounts average 1.0 support ticket (max 2). Churned accounts average 4.29 tickets (range 3–6), logging 1.0 to 2.5 tickets/month during onboarding.</a:t>
            </a:r>
          </a:p>
          <a:p>
            <a:pPr>
              <a:spcBef>
                <a:spcPts val="800"/>
              </a:spcBef>
              <a:defRPr sz="1100" b="1">
                <a:solidFill>
                  <a:srgbClr val="1E293B"/>
                </a:solidFill>
              </a:defRPr>
            </a:pPr>
            <a:r>
              <a:t>Operational Friction Signal: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Support tickets measure product friction and failed user expectations. When tickets exceed 3 within 60 days, customer frustration hardens into exit intent.</a:t>
            </a:r>
          </a:p>
          <a:p>
            <a:pPr>
              <a:spcBef>
                <a:spcPts val="800"/>
              </a:spcBef>
              <a:defRPr sz="1100" b="1">
                <a:solidFill>
                  <a:srgbClr val="1E293B"/>
                </a:solidFill>
              </a:defRPr>
            </a:pPr>
            <a:r>
              <a:t>Automated Ticket Velocity Alarm: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Deploy real-time support monitoring: any account logging ≥3 tickets within 60 days or &gt;0.5 tickets/mo triggers automated senior engineering escalation.</a:t>
            </a:r>
          </a:p>
          <a:p>
            <a:pPr>
              <a:spcBef>
                <a:spcPts val="800"/>
              </a:spcBef>
              <a:defRPr sz="1100" b="1">
                <a:solidFill>
                  <a:srgbClr val="1E293B"/>
                </a:solidFill>
              </a:defRPr>
            </a:pPr>
            <a:r>
              <a:t>Material Executive Decision: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Mandate that Customer Success contact flagged accounts within 24 hours to schedule a 1-on-1 technical resolution call before intent hardens.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766E"/>
                </a:solidFill>
              </a:defRPr>
            </a:pPr>
            <a:r>
              <a:t>MATERIAL INSIGHT 3 /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Insight 3: High-Value Revenue Leakage in the Mid-Market Pro Tier</a:t>
            </a:r>
          </a:p>
        </p:txBody>
      </p:sp>
      <p:pic>
        <p:nvPicPr>
          <p:cNvPr id="4" name="Picture 3" descr="chart_revenue_concen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120640" cy="158754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126480" y="1645920"/>
            <a:ext cx="530352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t>Key Empirical Takeaway:</a:t>
            </a:r>
          </a:p>
          <a:p>
            <a:pPr>
              <a:spcBef>
                <a:spcPts val="800"/>
              </a:spcBef>
              <a:defRPr sz="1100" b="1">
                <a:solidFill>
                  <a:srgbClr val="1E293B"/>
                </a:solidFill>
              </a:defRPr>
            </a:pPr>
            <a:r>
              <a:t>50% Churn Rate in Pro Tier: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The Pro tier ($79.99/mo) has lost 2 of 4 accounts, forfeiting $1,919.76 in ARR and $1,759.78 in historical revenue from just two customer departures.</a:t>
            </a:r>
          </a:p>
          <a:p>
            <a:pPr>
              <a:spcBef>
                <a:spcPts val="800"/>
              </a:spcBef>
              <a:defRPr sz="1100" b="1">
                <a:solidFill>
                  <a:srgbClr val="1E293B"/>
                </a:solidFill>
              </a:defRPr>
            </a:pPr>
            <a:r>
              <a:t>The Mid-Market Coverage Gap: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Pro users have complex workflows requiring support, but fall into a coverage gap: they lack dedicated Enterprise TAM coverage and cannot self-serve like Basic.</a:t>
            </a:r>
          </a:p>
          <a:p>
            <a:pPr>
              <a:spcBef>
                <a:spcPts val="800"/>
              </a:spcBef>
              <a:defRPr sz="1100" b="1">
                <a:solidFill>
                  <a:srgbClr val="1E293B"/>
                </a:solidFill>
              </a:defRPr>
            </a:pPr>
            <a:r>
              <a:t>Friction Meets Month-to-Month: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Both churned Pro accounts (CUST-1005, CUST-1012) had 3–4 support tickets and were on Month-to-Month billing, creating immediate flight risk.</a:t>
            </a:r>
          </a:p>
          <a:p>
            <a:pPr>
              <a:spcBef>
                <a:spcPts val="800"/>
              </a:spcBef>
              <a:defRPr sz="1100" b="1">
                <a:solidFill>
                  <a:srgbClr val="1E293B"/>
                </a:solidFill>
              </a:defRPr>
            </a:pPr>
            <a:r>
              <a:t>Material Executive Decision: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Establish a dedicated Pro Tier Onboarding Flight. Bundle senior engineering resolution with a 15% discount incentive to convert to annual agreements.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766E"/>
                </a:solidFill>
              </a:defRPr>
            </a:pPr>
            <a:r>
              <a:t>MATERIAL INSIGHTS 4 &amp;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Insights 4 &amp; 5: Enterprise Fortress &amp; Early Onboarding Friction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Insight 4: Enterprise Anchor &amp; Concentration Risk</a:t>
            </a:r>
          </a:p>
          <a:p>
            <a:pPr>
              <a:spcBef>
                <a:spcPts val="700"/>
              </a:spcBef>
              <a:defRPr sz="1050">
                <a:solidFill>
                  <a:srgbClr val="1E293B"/>
                </a:solidFill>
              </a:defRPr>
            </a:pPr>
            <a:r>
              <a:t>• 73.7% Revenue Anchor: Enterprise accounts generate $23,098.46 of $31,327.18 total revenue with 0.0% churn and 38.5 months average tenure.</a:t>
            </a:r>
          </a:p>
          <a:p>
            <a:pPr>
              <a:spcBef>
                <a:spcPts val="700"/>
              </a:spcBef>
              <a:defRPr sz="1050">
                <a:solidFill>
                  <a:srgbClr val="1E293B"/>
                </a:solidFill>
              </a:defRPr>
            </a:pPr>
            <a:r>
              <a:t>• Two-Year Stability: Locked in 2-year deals with dedicated account coverage and only 0.5 tickets per account.</a:t>
            </a:r>
          </a:p>
          <a:p>
            <a:pPr>
              <a:spcBef>
                <a:spcPts val="700"/>
              </a:spcBef>
              <a:defRPr sz="1050">
                <a:solidFill>
                  <a:srgbClr val="1E293B"/>
                </a:solidFill>
              </a:defRPr>
            </a:pPr>
            <a:r>
              <a:t>• High Concentration Hazard: With nearly 3/4 of revenue in just 4 accounts, a single exit loses $1,800/yr ARR.</a:t>
            </a:r>
          </a:p>
          <a:p>
            <a:pPr>
              <a:spcBef>
                <a:spcPts val="700"/>
              </a:spcBef>
              <a:defRPr sz="1050">
                <a:solidFill>
                  <a:srgbClr val="1E293B"/>
                </a:solidFill>
              </a:defRPr>
            </a:pPr>
            <a:r>
              <a:t>• Executive Action: Institute formal Quarterly Executive Business Reviews (EBRs) and begin renewal talks 6 months ahead.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Insight 5: Early Onboarding Drop-offs &amp; Payment Friction</a:t>
            </a:r>
          </a:p>
          <a:p>
            <a:pPr>
              <a:spcBef>
                <a:spcPts val="700"/>
              </a:spcBef>
              <a:defRPr sz="1050">
                <a:solidFill>
                  <a:srgbClr val="1E293B"/>
                </a:solidFill>
              </a:defRPr>
            </a:pPr>
            <a:r>
              <a:t>• 57.1% Early Churn: 4 of 7 churned accounts left in ≤6 months (avg 3.8 months tenure), averaging 5.0 tickets.</a:t>
            </a:r>
          </a:p>
          <a:p>
            <a:pPr>
              <a:spcBef>
                <a:spcPts val="700"/>
              </a:spcBef>
              <a:defRPr sz="1050">
                <a:solidFill>
                  <a:srgbClr val="1E293B"/>
                </a:solidFill>
              </a:defRPr>
            </a:pPr>
            <a:r>
              <a:t>• Failure to Reach Value: Users fail to achieve 'time-to-value' in first 30 days, logging high support before dropping off.</a:t>
            </a:r>
          </a:p>
          <a:p>
            <a:pPr>
              <a:spcBef>
                <a:spcPts val="700"/>
              </a:spcBef>
              <a:defRPr sz="1050">
                <a:solidFill>
                  <a:srgbClr val="1E293B"/>
                </a:solidFill>
              </a:defRPr>
            </a:pPr>
            <a:r>
              <a:t>• Payment Method Penalty: Debit Card had 100% churn (2/2) and UPI had 75% churn (3/4) vs 0% Bank Transfer and 33% Credit Card.</a:t>
            </a:r>
          </a:p>
          <a:p>
            <a:pPr>
              <a:spcBef>
                <a:spcPts val="700"/>
              </a:spcBef>
              <a:defRPr sz="1050">
                <a:solidFill>
                  <a:srgbClr val="1E293B"/>
                </a:solidFill>
              </a:defRPr>
            </a:pPr>
            <a:r>
              <a:t>• Executive Action: Deploy interactive 14-day in-app onboarding checklist and offer 5% credit for automated ACH billing.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766E"/>
                </a:solidFill>
              </a:defRPr>
            </a:pPr>
            <a:r>
              <a:t>SCORING MODEL &amp;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Explainable Churn-Risk Architecture: 0–100 Point Triage Engine</a:t>
            </a:r>
          </a:p>
        </p:txBody>
      </p:sp>
      <p:pic>
        <p:nvPicPr>
          <p:cNvPr id="4" name="Picture 3" descr="chart_risk_score_sepa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120640" cy="157212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126480" y="1645920"/>
            <a:ext cx="530352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Additive 0–100 Point Architecture: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</a:defRPr>
            </a:pPr>
            <a:r>
              <a:t>• Contract Commitment (Max 40 pts):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Month-to-Month = 40 | One-Year = 10 | Two-Year = 0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</a:defRPr>
            </a:pPr>
            <a:r>
              <a:t>• Support Friction &amp; Velocity (Max 35 pts):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Tickets ≥5 = 35 | Tickets 3–4 = 25 | Tickets 1–2 = 10 | Tickets 0 = 0 (Velocity trigger at ≥0.5/mo)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</a:defRPr>
            </a:pPr>
            <a:r>
              <a:t>• Lifecycle Tenure (Max 20 pts):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≤6m (Onboarding) = 20 | 7–12m = 12 | 13–24m = 5 | &gt;24m = 0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</a:defRPr>
            </a:pPr>
            <a:r>
              <a:t>• Payment Channel (Max 5 pts):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Debit / Ad-hoc UPI = 5 | Credit Card = 2 | Bank Transfer = 0</a:t>
            </a:r>
          </a:p>
          <a:p>
            <a:pPr>
              <a:spcBef>
                <a:spcPts val="1000"/>
              </a:spcBef>
              <a:defRPr sz="1200" b="1">
                <a:solidFill>
                  <a:srgbClr val="16A34A"/>
                </a:solidFill>
              </a:defRPr>
            </a:pPr>
            <a:r>
              <a:t>Empirical Validation Result: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100% empirical separation: Churners scored 75–100 (Mean: 89.0), Retained scored 2–30 (Mean: 16.6). Establishes an operational 34-point Medium-Risk early-warning buffer.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766E"/>
                </a:solidFill>
              </a:defRPr>
            </a:pPr>
            <a:r>
              <a:t>FINANCIAL MODELING &amp; 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Quantified Financial Return: Saving $1,230 to $3,960 in ARR</a:t>
            </a:r>
          </a:p>
        </p:txBody>
      </p:sp>
      <p:pic>
        <p:nvPicPr>
          <p:cNvPr id="4" name="Picture 3" descr="chart_impact_scenar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120640" cy="155507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126480" y="1645920"/>
            <a:ext cx="530352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12-Month Financial Return Modeling:</a:t>
            </a:r>
          </a:p>
          <a:p>
            <a:pPr>
              <a:spcBef>
                <a:spcPts val="800"/>
              </a:spcBef>
              <a:defRPr sz="1100" b="1">
                <a:solidFill>
                  <a:srgbClr val="2563EB"/>
                </a:solidFill>
              </a:defRPr>
            </a:pPr>
            <a:r>
              <a:t>Conservative Scenario (+$1,230 ARR):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25% reduction in M2M churn; saves 1 Pro or 2 Basic accounts via automated support ticket alerts.</a:t>
            </a:r>
          </a:p>
          <a:p>
            <a:pPr>
              <a:spcBef>
                <a:spcPts val="800"/>
              </a:spcBef>
              <a:defRPr sz="1100" b="1">
                <a:solidFill>
                  <a:srgbClr val="0F766E"/>
                </a:solidFill>
              </a:defRPr>
            </a:pPr>
            <a:r>
              <a:t>Expected Scenario (+$2,460 ARR):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50% reduction in churn; saves 1 Pro account ($960 ARR) and 2 early Basic accounts ($1,200 ARR) via CSM outreach and annual discounts.</a:t>
            </a:r>
          </a:p>
          <a:p>
            <a:pPr>
              <a:spcBef>
                <a:spcPts val="800"/>
              </a:spcBef>
              <a:defRPr sz="1100" b="1">
                <a:solidFill>
                  <a:srgbClr val="16A34A"/>
                </a:solidFill>
              </a:defRPr>
            </a:pPr>
            <a:r>
              <a:t>Optimistic Scenario (+$3,960 ARR):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75% churn reduction across all cohorts plus 15% revenue expansion from migrating stable Basic users to Pro tiers.</a:t>
            </a:r>
          </a:p>
          <a:p>
            <a:pPr>
              <a:spcBef>
                <a:spcPts val="1000"/>
              </a:spcBef>
              <a:defRPr sz="1200" b="1">
                <a:solidFill>
                  <a:srgbClr val="1E3A8A"/>
                </a:solidFill>
              </a:defRPr>
            </a:pPr>
            <a:r>
              <a:t>ROI Break-Even Reality: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At an average customer lifetime value of $5,774 for Enterprise and $1,220 for Pro, preventing just a single mid-market churn event fully finances the entire automated ticketing infrastructure.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766E"/>
                </a:solidFill>
              </a:defRPr>
            </a:pPr>
            <a:r>
              <a:t>METHODOLOGY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Analytical Transparency: Assumptions, Limitations &amp; Governance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Model Assumptions &amp; Preconditions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</a:defRPr>
            </a:pPr>
            <a:r>
              <a:t>• Cohort Proportionality: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Assumes the 15 customer records reflect broader operational distribution of contract types and friction.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</a:defRPr>
            </a:pPr>
            <a:r>
              <a:t>• Proxy Validity: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Cumulative tickets and tenure serve as effective proxies for user satisfaction and switching barriers.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</a:defRPr>
            </a:pPr>
            <a:r>
              <a:t>• CSM Receptivity: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Assumes accounts flagged in Medium-Risk (scores 35–64) are receptive to proactive technical outreach.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</a:defRPr>
            </a:pPr>
            <a:r>
              <a:t>• Commercial Willingness: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Assumes a subset of monthly users will accept annual discounts in exchange for contractual stability.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Operational Limitations &amp; Guardrails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</a:defRPr>
            </a:pPr>
            <a:r>
              <a:t>• Sample Cohort Size (N=15):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Deterministic rule engine works cleanly; higher-dimensional ML requires larger telemetry volume.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</a:defRPr>
            </a:pPr>
            <a:r>
              <a:t>• Absence of Direct Telemetry: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Lacks in-app metrics (DAU/MAU, feature depth, session time); recommend instrumenting telemetry in Q1.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</a:defRPr>
            </a:pPr>
            <a:r>
              <a:t>• Causality vs Correlation: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Month-to-Month contracts enable easy cancellation, but product setup friction causes the intent.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</a:defRPr>
            </a:pPr>
            <a:r>
              <a:t>• Recalibration Governance: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Quarterly auditing of False Positives (&gt;65 retained) and False Negatives (&lt;35 churned) to tune weights.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766E"/>
                </a:solidFill>
              </a:defRPr>
            </a:pPr>
            <a:r>
              <a:t>STRATEGIC EXECUTION PLAYBOOK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Strategic Execution: 30–60–90 Day Roadmap &amp; Executive Decision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017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C2626"/>
                </a:solidFill>
              </a:defRPr>
            </a:pPr>
            <a:r>
              <a:t>Days 1–30: Immediate Triage</a:t>
            </a:r>
          </a:p>
          <a:p>
            <a:pPr>
              <a:spcBef>
                <a:spcPts val="400"/>
              </a:spcBef>
              <a:defRPr sz="1000" b="1">
                <a:solidFill>
                  <a:srgbClr val="1E293B"/>
                </a:solidFill>
              </a:defRPr>
            </a:pPr>
            <a:r>
              <a:t>Halt Active High-Value Leakage</a:t>
            </a:r>
          </a:p>
          <a:p>
            <a:pPr>
              <a:spcBef>
                <a:spcPts val="600"/>
              </a:spcBef>
              <a:defRPr sz="950">
                <a:solidFill>
                  <a:srgbClr val="475569"/>
                </a:solidFill>
              </a:defRPr>
            </a:pPr>
            <a:r>
              <a:t>• Deploy Zendesk Support Velocity Alarm (≥3 tickets trigger).</a:t>
            </a:r>
          </a:p>
          <a:p>
            <a:pPr>
              <a:spcBef>
                <a:spcPts val="600"/>
              </a:spcBef>
              <a:defRPr sz="950">
                <a:solidFill>
                  <a:srgbClr val="475569"/>
                </a:solidFill>
              </a:defRPr>
            </a:pPr>
            <a:r>
              <a:t>• Conduct 1-on-1 CSM rescue calls with active Pro accounts.</a:t>
            </a:r>
          </a:p>
          <a:p>
            <a:pPr>
              <a:spcBef>
                <a:spcPts val="600"/>
              </a:spcBef>
              <a:defRPr sz="950">
                <a:solidFill>
                  <a:srgbClr val="475569"/>
                </a:solidFill>
              </a:defRPr>
            </a:pPr>
            <a:r>
              <a:t>• Assign senior engineering dispatch to resolve open tickets.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3017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766E"/>
                </a:solidFill>
              </a:defRPr>
            </a:pPr>
            <a:r>
              <a:t>Days 31–60: Structural Reform</a:t>
            </a:r>
          </a:p>
          <a:p>
            <a:pPr>
              <a:spcBef>
                <a:spcPts val="400"/>
              </a:spcBef>
              <a:defRPr sz="1000" b="1">
                <a:solidFill>
                  <a:srgbClr val="1E293B"/>
                </a:solidFill>
              </a:defRPr>
            </a:pPr>
            <a:r>
              <a:t>Re-Architect Contract Packaging</a:t>
            </a:r>
          </a:p>
          <a:p>
            <a:pPr>
              <a:spcBef>
                <a:spcPts val="600"/>
              </a:spcBef>
              <a:defRPr sz="950">
                <a:solidFill>
                  <a:srgbClr val="475569"/>
                </a:solidFill>
              </a:defRPr>
            </a:pPr>
            <a:r>
              <a:t>• Eliminate standalone Month-to-Month contracts for Pro.</a:t>
            </a:r>
          </a:p>
          <a:p>
            <a:pPr>
              <a:spcBef>
                <a:spcPts val="600"/>
              </a:spcBef>
              <a:defRPr sz="950">
                <a:solidFill>
                  <a:srgbClr val="475569"/>
                </a:solidFill>
              </a:defRPr>
            </a:pPr>
            <a:r>
              <a:t>• Roll out interactive 14-day in-app onboarding checklist.</a:t>
            </a:r>
          </a:p>
          <a:p>
            <a:pPr>
              <a:spcBef>
                <a:spcPts val="600"/>
              </a:spcBef>
              <a:defRPr sz="950">
                <a:solidFill>
                  <a:srgbClr val="475569"/>
                </a:solidFill>
              </a:defRPr>
            </a:pPr>
            <a:r>
              <a:t>• Offer 5% billing incentive for automated ACH / auto-pay.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3017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Days 61–90: Enterprise Defense</a:t>
            </a:r>
          </a:p>
          <a:p>
            <a:pPr>
              <a:spcBef>
                <a:spcPts val="400"/>
              </a:spcBef>
              <a:defRPr sz="1000" b="1">
                <a:solidFill>
                  <a:srgbClr val="1E293B"/>
                </a:solidFill>
              </a:defRPr>
            </a:pPr>
            <a:r>
              <a:t>Protect Revenue &amp; Scale Telemetry</a:t>
            </a:r>
          </a:p>
          <a:p>
            <a:pPr>
              <a:spcBef>
                <a:spcPts val="600"/>
              </a:spcBef>
              <a:defRPr sz="950">
                <a:solidFill>
                  <a:srgbClr val="475569"/>
                </a:solidFill>
              </a:defRPr>
            </a:pPr>
            <a:r>
              <a:t>• Formalize Quarterly Executive Business Reviews (EBRs).</a:t>
            </a:r>
          </a:p>
          <a:p>
            <a:pPr>
              <a:spcBef>
                <a:spcPts val="600"/>
              </a:spcBef>
              <a:defRPr sz="950">
                <a:solidFill>
                  <a:srgbClr val="475569"/>
                </a:solidFill>
              </a:defRPr>
            </a:pPr>
            <a:r>
              <a:t>• Initiate renewal talks 6 months ahead of 2-year expirations.</a:t>
            </a:r>
          </a:p>
          <a:p>
            <a:pPr>
              <a:spcBef>
                <a:spcPts val="600"/>
              </a:spcBef>
              <a:defRPr sz="950">
                <a:solidFill>
                  <a:srgbClr val="475569"/>
                </a:solidFill>
              </a:defRPr>
            </a:pPr>
            <a:r>
              <a:t>• Automate weekly scoring updates and executive dashboards.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303520"/>
            <a:ext cx="10698480" cy="10058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39496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FFFFF"/>
                </a:solidFill>
              </a:defRPr>
            </a:pPr>
            <a:r>
              <a:t>EXECUTIVE ACTION REQUIRED: Authorize Revenue Operations to implement the Zendesk Velocity Trigger and launch the Pro-Tier Annual Contract Transition Incentive Program.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